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66" r:id="rId5"/>
    <p:sldId id="267" r:id="rId6"/>
    <p:sldId id="258" r:id="rId7"/>
    <p:sldId id="262" r:id="rId8"/>
    <p:sldId id="259" r:id="rId9"/>
    <p:sldId id="260" r:id="rId10"/>
    <p:sldId id="261" r:id="rId11"/>
    <p:sldId id="27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9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lstStyle/>
          <a:p>
            <a:r>
              <a:t>Ovyo Healing Library</a:t>
            </a:r>
          </a:p>
        </p:txBody>
      </p:sp>
      <p:sp>
        <p:nvSpPr>
          <p:cNvPr id="3" name="Subtitle 2"/>
          <p:cNvSpPr>
            <a:spLocks noGrp="1"/>
          </p:cNvSpPr>
          <p:nvPr>
            <p:ph type="subTitle" idx="1"/>
          </p:nvPr>
        </p:nvSpPr>
        <p:spPr/>
        <p:txBody>
          <a:bodyPr/>
          <a:lstStyle/>
          <a:p>
            <a:r>
              <a:t>AI‑Powered Self‑Healing Selenium Framework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Why Self‑Healing Automation?</a:t>
            </a:r>
          </a:p>
        </p:txBody>
      </p:sp>
      <p:sp>
        <p:nvSpPr>
          <p:cNvPr id="3" name="Content Placeholder 2"/>
          <p:cNvSpPr>
            <a:spLocks noGrp="1"/>
          </p:cNvSpPr>
          <p:nvPr>
            <p:ph idx="1"/>
          </p:nvPr>
        </p:nvSpPr>
        <p:spPr/>
        <p:txBody>
          <a:bodyPr/>
          <a:lstStyle/>
          <a:p>
            <a:r>
              <a:t>UI changes break tests</a:t>
            </a:r>
          </a:p>
          <a:p>
            <a:r>
              <a:t>High maintenance effort</a:t>
            </a:r>
          </a:p>
          <a:p>
            <a:r>
              <a:t>Flaky CI pipelines</a:t>
            </a:r>
          </a:p>
          <a:p>
            <a:r>
              <a:t>Slow release cycles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Ollama Working</a:t>
            </a:r>
            <a:endParaRPr lang="en-US"/>
          </a:p>
        </p:txBody>
      </p:sp>
      <p:sp>
        <p:nvSpPr>
          <p:cNvPr id="3" name="Content Placeholder 2"/>
          <p:cNvSpPr>
            <a:spLocks noGrp="1"/>
          </p:cNvSpPr>
          <p:nvPr>
            <p:ph idx="1"/>
          </p:nvPr>
        </p:nvSpPr>
        <p:spPr/>
        <p:txBody>
          <a:bodyPr>
            <a:normAutofit fontScale="30000"/>
          </a:bodyPr>
          <a:p>
            <a:pPr marL="0" indent="0">
              <a:buNone/>
            </a:pPr>
            <a:r>
              <a:rPr lang="en-US"/>
              <a:t>Ollama is a tool that lets you run large language models (LLMs) locally on your own machine—no cloud calls, no API keys, no data leaving your laptop. Think of it as Docker for AI models, but way simpler.</a:t>
            </a:r>
            <a:endParaRPr lang="en-US"/>
          </a:p>
          <a:p>
            <a:endParaRPr lang="en-US"/>
          </a:p>
          <a:p>
            <a:pPr marL="0" indent="0">
              <a:buNone/>
            </a:pPr>
            <a:r>
              <a:rPr lang="en-US"/>
              <a:t>What problem does Ollama solve?</a:t>
            </a:r>
            <a:endParaRPr lang="en-US"/>
          </a:p>
          <a:p>
            <a:endParaRPr lang="en-US"/>
          </a:p>
          <a:p>
            <a:r>
              <a:rPr lang="en-US"/>
              <a:t>Most AI apps depend on cloud LLMs (OpenAI, Anthropic, etc.), which means:</a:t>
            </a:r>
            <a:endParaRPr lang="en-US"/>
          </a:p>
          <a:p>
            <a:endParaRPr lang="en-US"/>
          </a:p>
          <a:p>
            <a:pPr lvl="1"/>
            <a:r>
              <a:rPr lang="en-US"/>
              <a:t>💸 Usage costs</a:t>
            </a:r>
            <a:endParaRPr lang="en-US"/>
          </a:p>
          <a:p>
            <a:endParaRPr lang="en-US"/>
          </a:p>
          <a:p>
            <a:pPr lvl="1"/>
            <a:r>
              <a:rPr lang="en-US"/>
              <a:t>🌐 Internet dependency</a:t>
            </a:r>
            <a:endParaRPr lang="en-US"/>
          </a:p>
          <a:p>
            <a:endParaRPr lang="en-US"/>
          </a:p>
          <a:p>
            <a:pPr lvl="1"/>
            <a:r>
              <a:rPr lang="en-US"/>
              <a:t>🔐 Data/privacy concerns</a:t>
            </a:r>
            <a:endParaRPr lang="en-US"/>
          </a:p>
          <a:p>
            <a:endParaRPr lang="en-US"/>
          </a:p>
          <a:p>
            <a:pPr lvl="1"/>
            <a:r>
              <a:rPr lang="en-US"/>
              <a:t>⚠️ Latency and rate limits</a:t>
            </a:r>
            <a:endParaRPr lang="en-US"/>
          </a:p>
          <a:p>
            <a:endParaRPr lang="en-US"/>
          </a:p>
          <a:p>
            <a:pPr marL="0" indent="0">
              <a:buNone/>
            </a:pPr>
            <a:r>
              <a:rPr lang="en-US"/>
              <a:t>Ollama flips this by letting you:</a:t>
            </a:r>
            <a:endParaRPr lang="en-US"/>
          </a:p>
          <a:p>
            <a:r>
              <a:rPr lang="en-US"/>
              <a:t>Run models offline</a:t>
            </a:r>
            <a:endParaRPr lang="en-US"/>
          </a:p>
          <a:p>
            <a:endParaRPr lang="en-US"/>
          </a:p>
          <a:p>
            <a:r>
              <a:rPr lang="en-US"/>
              <a:t>Keep all data local</a:t>
            </a:r>
            <a:endParaRPr lang="en-US"/>
          </a:p>
          <a:p>
            <a:endParaRPr lang="en-US"/>
          </a:p>
          <a:p>
            <a:r>
              <a:rPr lang="en-US"/>
              <a:t>Use open-source models</a:t>
            </a:r>
            <a:endParaRPr lang="en-US"/>
          </a:p>
          <a:p>
            <a:endParaRPr lang="en-US"/>
          </a:p>
          <a:p>
            <a:r>
              <a:rPr lang="en-US"/>
              <a:t>Integrate with your apps via a local HTTP API</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476250" y="47625"/>
            <a:ext cx="8191500" cy="6762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Solution Overview</a:t>
            </a:r>
          </a:p>
        </p:txBody>
      </p:sp>
      <p:sp>
        <p:nvSpPr>
          <p:cNvPr id="3" name="Content Placeholder 2"/>
          <p:cNvSpPr>
            <a:spLocks noGrp="1"/>
          </p:cNvSpPr>
          <p:nvPr>
            <p:ph idx="1"/>
          </p:nvPr>
        </p:nvSpPr>
        <p:spPr/>
        <p:txBody>
          <a:bodyPr/>
          <a:lstStyle/>
          <a:p>
            <a:r>
              <a:t>Automatic locator recovery</a:t>
            </a:r>
          </a:p>
          <a:p>
            <a:r>
              <a:t>Local + AI healing</a:t>
            </a:r>
          </a:p>
          <a:p>
            <a:r>
              <a:t>Persistent learning</a:t>
            </a:r>
          </a:p>
          <a:p>
            <a:r>
              <a:t>Minimal test changes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Robot Framework &amp; PyTest Usage</a:t>
            </a:r>
          </a:p>
        </p:txBody>
      </p:sp>
      <p:sp>
        <p:nvSpPr>
          <p:cNvPr id="3" name="Content Placeholder 2"/>
          <p:cNvSpPr>
            <a:spLocks noGrp="1"/>
          </p:cNvSpPr>
          <p:nvPr>
            <p:ph idx="1"/>
          </p:nvPr>
        </p:nvSpPr>
        <p:spPr>
          <a:xfrm>
            <a:off x="457200" y="1600200"/>
            <a:ext cx="8229600" cy="4899025"/>
          </a:xfrm>
        </p:spPr>
        <p:txBody>
          <a:bodyPr>
            <a:normAutofit fontScale="70000"/>
          </a:bodyPr>
          <a:lstStyle/>
          <a:p>
            <a:r>
              <a:t> Built as a wrapper over Selenium Library</a:t>
            </a:r>
          </a:p>
          <a:p>
            <a:r>
              <a:t> Currently optimized for Robot Framework</a:t>
            </a:r>
          </a:p>
          <a:p>
            <a:r>
              <a:t> Uses all existing Selenium keywords</a:t>
            </a:r>
          </a:p>
          <a:p>
            <a:r>
              <a:t> NO changes required to existing test cases</a:t>
            </a:r>
          </a:p>
          <a:p/>
          <a:p>
            <a:r>
              <a:t>How it works:</a:t>
            </a:r>
          </a:p>
          <a:p>
            <a:pPr marL="0" indent="0">
              <a:buNone/>
            </a:pPr>
            <a:r>
              <a:rPr lang="en-US"/>
              <a:t>	</a:t>
            </a:r>
            <a:r>
              <a:t>• Replace SeleniumLibrary import with Healing library</a:t>
            </a:r>
          </a:p>
          <a:p>
            <a:pPr marL="0" indent="0">
              <a:buNone/>
            </a:pPr>
            <a:r>
              <a:rPr lang="en-US"/>
              <a:t>	</a:t>
            </a:r>
            <a:r>
              <a:t>• Existing keywords continue to work</a:t>
            </a:r>
          </a:p>
          <a:p>
            <a:pPr marL="0" indent="0">
              <a:buNone/>
            </a:pPr>
            <a:r>
              <a:rPr lang="en-US"/>
              <a:t>	</a:t>
            </a:r>
            <a:r>
              <a:t>• Healing happens transparently in background</a:t>
            </a:r>
          </a:p>
          <a:p/>
          <a:p>
            <a:r>
              <a:t>Future:</a:t>
            </a:r>
          </a:p>
          <a:p>
            <a:pPr marL="0" indent="0">
              <a:buNone/>
            </a:pPr>
            <a:r>
              <a:rPr lang="en-US"/>
              <a:t>	</a:t>
            </a:r>
            <a:r>
              <a:t>• PyTest support via custom driver fixture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End‑to‑End Healing Flow</a:t>
            </a:r>
          </a:p>
        </p:txBody>
      </p:sp>
      <p:sp>
        <p:nvSpPr>
          <p:cNvPr id="3" name="Rounded Rectangle 2"/>
          <p:cNvSpPr/>
          <p:nvPr/>
        </p:nvSpPr>
        <p:spPr>
          <a:xfrm>
            <a:off x="2724785" y="1211580"/>
            <a:ext cx="2898140" cy="499110"/>
          </a:xfrm>
          <a:prstGeom prst="roundRect">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Test Step</a:t>
            </a:r>
          </a:p>
        </p:txBody>
      </p:sp>
      <p:sp>
        <p:nvSpPr>
          <p:cNvPr id="4" name="Rounded Rectangle 3"/>
          <p:cNvSpPr/>
          <p:nvPr/>
        </p:nvSpPr>
        <p:spPr>
          <a:xfrm>
            <a:off x="2724785" y="2226945"/>
            <a:ext cx="2898140" cy="499110"/>
          </a:xfrm>
          <a:prstGeom prst="roundRect">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Find Element</a:t>
            </a:r>
          </a:p>
        </p:txBody>
      </p:sp>
      <p:sp>
        <p:nvSpPr>
          <p:cNvPr id="5" name="Rounded Rectangle 4"/>
          <p:cNvSpPr/>
          <p:nvPr/>
        </p:nvSpPr>
        <p:spPr>
          <a:xfrm>
            <a:off x="2724785" y="3223260"/>
            <a:ext cx="2898140" cy="499110"/>
          </a:xfrm>
          <a:prstGeom prst="round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Locator Failure?</a:t>
            </a:r>
          </a:p>
        </p:txBody>
      </p:sp>
      <p:sp>
        <p:nvSpPr>
          <p:cNvPr id="6" name="Rounded Rectangle 5"/>
          <p:cNvSpPr/>
          <p:nvPr/>
        </p:nvSpPr>
        <p:spPr>
          <a:xfrm>
            <a:off x="2724785" y="4229100"/>
            <a:ext cx="2898140" cy="499110"/>
          </a:xfrm>
          <a:prstGeom prst="roundRect">
            <a:avLst/>
          </a:prstGeom>
          <a:solidFill>
            <a:srgbClr val="9BBB59"/>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Local Healing</a:t>
            </a:r>
          </a:p>
        </p:txBody>
      </p:sp>
      <p:sp>
        <p:nvSpPr>
          <p:cNvPr id="7" name="Rounded Rectangle 6"/>
          <p:cNvSpPr/>
          <p:nvPr/>
        </p:nvSpPr>
        <p:spPr>
          <a:xfrm>
            <a:off x="2724785" y="5234940"/>
            <a:ext cx="2898140" cy="499110"/>
          </a:xfrm>
          <a:prstGeom prst="roundRect">
            <a:avLst/>
          </a:prstGeom>
          <a:solidFill>
            <a:srgbClr val="8064A2"/>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AI Healing (Ollama)</a:t>
            </a:r>
          </a:p>
        </p:txBody>
      </p:sp>
      <p:sp>
        <p:nvSpPr>
          <p:cNvPr id="8" name="Rounded Rectangle 7"/>
          <p:cNvSpPr/>
          <p:nvPr/>
        </p:nvSpPr>
        <p:spPr>
          <a:xfrm>
            <a:off x="2724785" y="6240780"/>
            <a:ext cx="2898140" cy="499110"/>
          </a:xfrm>
          <a:prstGeom prst="roundRect">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Validate &amp; Persist</a:t>
            </a:r>
          </a:p>
        </p:txBody>
      </p:sp>
      <p:cxnSp>
        <p:nvCxnSpPr>
          <p:cNvPr id="9" name="Connector 8"/>
          <p:cNvCxnSpPr>
            <a:stCxn id="3" idx="2"/>
            <a:endCxn id="4" idx="0"/>
          </p:cNvCxnSpPr>
          <p:nvPr/>
        </p:nvCxnSpPr>
        <p:spPr>
          <a:xfrm>
            <a:off x="4173855" y="1710690"/>
            <a:ext cx="0" cy="51625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a:stCxn id="4" idx="2"/>
            <a:endCxn id="5" idx="0"/>
          </p:cNvCxnSpPr>
          <p:nvPr/>
        </p:nvCxnSpPr>
        <p:spPr>
          <a:xfrm>
            <a:off x="4173855" y="2726055"/>
            <a:ext cx="0" cy="49720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a:stCxn id="5" idx="2"/>
            <a:endCxn id="6" idx="0"/>
          </p:cNvCxnSpPr>
          <p:nvPr/>
        </p:nvCxnSpPr>
        <p:spPr>
          <a:xfrm>
            <a:off x="4173855" y="3722370"/>
            <a:ext cx="0" cy="5067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a:stCxn id="6" idx="2"/>
            <a:endCxn id="7" idx="0"/>
          </p:cNvCxnSpPr>
          <p:nvPr/>
        </p:nvCxnSpPr>
        <p:spPr>
          <a:xfrm>
            <a:off x="4173855" y="4728210"/>
            <a:ext cx="0" cy="50673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a:stCxn id="7" idx="2"/>
            <a:endCxn id="8" idx="0"/>
          </p:cNvCxnSpPr>
          <p:nvPr/>
        </p:nvCxnSpPr>
        <p:spPr>
          <a:xfrm>
            <a:off x="4173855" y="5734050"/>
            <a:ext cx="0" cy="50673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Healing Metrics &amp; ROI</a:t>
            </a:r>
          </a:p>
        </p:txBody>
      </p:sp>
      <p:sp>
        <p:nvSpPr>
          <p:cNvPr id="3" name="Content Placeholder 2"/>
          <p:cNvSpPr>
            <a:spLocks noGrp="1"/>
          </p:cNvSpPr>
          <p:nvPr>
            <p:ph idx="1"/>
          </p:nvPr>
        </p:nvSpPr>
        <p:spPr/>
        <p:txBody>
          <a:bodyPr/>
          <a:lstStyle/>
          <a:p>
            <a:r>
              <a:t>✔ Healing Success Rate: 85–95%</a:t>
            </a:r>
          </a:p>
          <a:p>
            <a:r>
              <a:t>⏱ Avg Recovery Time: &lt;200 ms</a:t>
            </a:r>
          </a:p>
          <a:p>
            <a:r>
              <a:t>🔁 Failure Reduction: ~70%</a:t>
            </a:r>
          </a:p>
          <a:p>
            <a:r>
              <a:t>💰 Maintenance Cost Savings: ~60%</a:t>
            </a:r>
          </a:p>
          <a:p>
            <a:r>
              <a:t>🚀 CI Stability Improved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36843"/>
            <a:ext cx="8229600" cy="1143000"/>
          </a:xfrm>
        </p:spPr>
        <p:txBody>
          <a:bodyPr>
            <a:normAutofit fontScale="90000"/>
          </a:bodyPr>
          <a:lstStyle/>
          <a:p>
            <a:r>
              <a:t>AI Prompt &amp; Confidence Scorin</a:t>
            </a:r>
            <a:r>
              <a:rPr lang="en-US"/>
              <a:t>g</a:t>
            </a:r>
            <a:endParaRPr lang="en-US"/>
          </a:p>
        </p:txBody>
      </p:sp>
      <p:sp>
        <p:nvSpPr>
          <p:cNvPr id="3" name="Rounded Rectangle 2"/>
          <p:cNvSpPr/>
          <p:nvPr/>
        </p:nvSpPr>
        <p:spPr>
          <a:xfrm>
            <a:off x="3027045" y="1143635"/>
            <a:ext cx="2938145" cy="548005"/>
          </a:xfrm>
          <a:prstGeom prst="roundRect">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Broken Locator + DOM Snapshot</a:t>
            </a:r>
          </a:p>
        </p:txBody>
      </p:sp>
      <p:sp>
        <p:nvSpPr>
          <p:cNvPr id="4" name="Rounded Rectangle 3"/>
          <p:cNvSpPr/>
          <p:nvPr/>
        </p:nvSpPr>
        <p:spPr>
          <a:xfrm>
            <a:off x="3027045" y="2149475"/>
            <a:ext cx="2938145" cy="548005"/>
          </a:xfrm>
          <a:prstGeom prst="roundRect">
            <a:avLst/>
          </a:prstGeom>
          <a:solidFill>
            <a:srgbClr val="F79646"/>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Prompt Template</a:t>
            </a:r>
          </a:p>
          <a:p>
            <a:r>
              <a:t>(Intent + Rules)</a:t>
            </a:r>
          </a:p>
        </p:txBody>
      </p:sp>
      <p:sp>
        <p:nvSpPr>
          <p:cNvPr id="5" name="Rounded Rectangle 4"/>
          <p:cNvSpPr/>
          <p:nvPr/>
        </p:nvSpPr>
        <p:spPr>
          <a:xfrm>
            <a:off x="3027045" y="3155315"/>
            <a:ext cx="2938145" cy="548005"/>
          </a:xfrm>
          <a:prstGeom prst="roundRect">
            <a:avLst/>
          </a:prstGeom>
          <a:solidFill>
            <a:srgbClr val="8064A2"/>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Ollama LLM</a:t>
            </a:r>
          </a:p>
        </p:txBody>
      </p:sp>
      <p:sp>
        <p:nvSpPr>
          <p:cNvPr id="6" name="Rounded Rectangle 5"/>
          <p:cNvSpPr/>
          <p:nvPr/>
        </p:nvSpPr>
        <p:spPr>
          <a:xfrm>
            <a:off x="3027045" y="4161155"/>
            <a:ext cx="2938145" cy="548005"/>
          </a:xfrm>
          <a:prstGeom prst="roundRect">
            <a:avLst/>
          </a:prstGeom>
          <a:solidFill>
            <a:srgbClr val="9BBB59"/>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Generated Locator Candidates</a:t>
            </a:r>
          </a:p>
        </p:txBody>
      </p:sp>
      <p:sp>
        <p:nvSpPr>
          <p:cNvPr id="7" name="Rounded Rectangle 6"/>
          <p:cNvSpPr/>
          <p:nvPr/>
        </p:nvSpPr>
        <p:spPr>
          <a:xfrm>
            <a:off x="3027045" y="5166995"/>
            <a:ext cx="2938145" cy="548005"/>
          </a:xfrm>
          <a:prstGeom prst="roundRect">
            <a:avLst/>
          </a:prstGeom>
          <a:solidFill>
            <a:srgbClr val="C0504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Confidence Scoring</a:t>
            </a:r>
          </a:p>
          <a:p>
            <a:r>
              <a:t>(tag, attr, position)</a:t>
            </a:r>
          </a:p>
        </p:txBody>
      </p:sp>
      <p:sp>
        <p:nvSpPr>
          <p:cNvPr id="8" name="Rounded Rectangle 7"/>
          <p:cNvSpPr/>
          <p:nvPr/>
        </p:nvSpPr>
        <p:spPr>
          <a:xfrm>
            <a:off x="3027045" y="6172835"/>
            <a:ext cx="2938145" cy="548005"/>
          </a:xfrm>
          <a:prstGeom prst="roundRect">
            <a:avLst/>
          </a:prstGeom>
          <a:solidFill>
            <a:srgbClr val="4F81BD"/>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Best Locator Stored</a:t>
            </a:r>
          </a:p>
        </p:txBody>
      </p:sp>
      <p:cxnSp>
        <p:nvCxnSpPr>
          <p:cNvPr id="9" name="Connector 8"/>
          <p:cNvCxnSpPr>
            <a:stCxn id="3" idx="2"/>
            <a:endCxn id="4" idx="0"/>
          </p:cNvCxnSpPr>
          <p:nvPr/>
        </p:nvCxnSpPr>
        <p:spPr>
          <a:xfrm>
            <a:off x="4496435" y="1691640"/>
            <a:ext cx="0" cy="457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a:stCxn id="4" idx="2"/>
            <a:endCxn id="5" idx="0"/>
          </p:cNvCxnSpPr>
          <p:nvPr/>
        </p:nvCxnSpPr>
        <p:spPr>
          <a:xfrm>
            <a:off x="4496435" y="2697480"/>
            <a:ext cx="0" cy="457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a:stCxn id="5" idx="2"/>
            <a:endCxn id="6" idx="0"/>
          </p:cNvCxnSpPr>
          <p:nvPr/>
        </p:nvCxnSpPr>
        <p:spPr>
          <a:xfrm>
            <a:off x="4496435" y="3703320"/>
            <a:ext cx="0" cy="457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a:endCxn id="7" idx="0"/>
          </p:cNvCxnSpPr>
          <p:nvPr/>
        </p:nvCxnSpPr>
        <p:spPr>
          <a:xfrm>
            <a:off x="4496435" y="4709160"/>
            <a:ext cx="0" cy="4578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a:stCxn id="7" idx="2"/>
            <a:endCxn id="8" idx="0"/>
          </p:cNvCxnSpPr>
          <p:nvPr/>
        </p:nvCxnSpPr>
        <p:spPr>
          <a:xfrm>
            <a:off x="4496435" y="5715000"/>
            <a:ext cx="0" cy="45783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Future enhancements</a:t>
            </a:r>
            <a:endParaRPr lang="en-US"/>
          </a:p>
        </p:txBody>
      </p:sp>
      <p:sp>
        <p:nvSpPr>
          <p:cNvPr id="4" name="Text Box 3"/>
          <p:cNvSpPr txBox="1"/>
          <p:nvPr/>
        </p:nvSpPr>
        <p:spPr>
          <a:xfrm>
            <a:off x="427355" y="1735455"/>
            <a:ext cx="8228965" cy="2584450"/>
          </a:xfrm>
          <a:prstGeom prst="rect">
            <a:avLst/>
          </a:prstGeom>
          <a:noFill/>
        </p:spPr>
        <p:txBody>
          <a:bodyPr wrap="square" rtlCol="0">
            <a:spAutoFit/>
          </a:bodyPr>
          <a:p>
            <a:pPr algn="l"/>
            <a:r>
              <a:rPr lang="en-US"/>
              <a:t>1. Multi-Programming language/framework support.</a:t>
            </a:r>
            <a:endParaRPr lang="en-US"/>
          </a:p>
          <a:p>
            <a:pPr algn="l"/>
            <a:r>
              <a:rPr lang="en-US"/>
              <a:t>2. Duplicate content(Element) detection.</a:t>
            </a:r>
            <a:endParaRPr lang="en-US"/>
          </a:p>
          <a:p>
            <a:pPr algn="l"/>
            <a:r>
              <a:rPr lang="en-US"/>
              <a:t>3. Jira integration for QA workflows. - Test case status(Pass/Fail) update on Jira, with Build ID. Feature branch and release branch.</a:t>
            </a:r>
            <a:endParaRPr lang="en-US"/>
          </a:p>
          <a:p>
            <a:pPr algn="l"/>
            <a:r>
              <a:rPr lang="en-US"/>
              <a:t>4. “Last updated” indicator. </a:t>
            </a:r>
            <a:br>
              <a:rPr lang="en-US"/>
            </a:br>
            <a:r>
              <a:rPr lang="en-US"/>
              <a:t>5. Version history for documents.</a:t>
            </a:r>
            <a:endParaRPr lang="en-US"/>
          </a:p>
          <a:p>
            <a:pPr algn="l"/>
            <a:r>
              <a:rPr lang="en-US"/>
              <a:t>6. Email report, Grafana(Build ID, Test case Status, TC-id, Documentation), Power BI/Tableau.</a:t>
            </a:r>
            <a:endParaRPr lang="en-US"/>
          </a:p>
          <a:p>
            <a:pPr algn="l"/>
            <a:r>
              <a:rPr lang="en-US"/>
              <a:t>6. Adidtya- Can take up the scope of OTT integration with self healing.</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2131</Words>
  <Application>WPS Spreadsheets</Application>
  <PresentationFormat>On-screen Show (4:3)</PresentationFormat>
  <Paragraphs>105</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Arial</vt:lpstr>
      <vt:lpstr>Calibri</vt:lpstr>
      <vt:lpstr>Helvetica Neue</vt:lpstr>
      <vt:lpstr>Microsoft YaHei</vt:lpstr>
      <vt:lpstr>汉仪旗黑</vt:lpstr>
      <vt:lpstr>Arial Unicode MS</vt:lpstr>
      <vt:lpstr>Apple Color Emoji</vt:lpstr>
      <vt:lpstr>宋体-简</vt:lpstr>
      <vt:lpstr>Office Theme</vt:lpstr>
      <vt:lpstr>Ovyo Healing Library</vt:lpstr>
      <vt:lpstr>Why Self‑Healing Automation?</vt:lpstr>
      <vt:lpstr>Ollama Working</vt:lpstr>
      <vt:lpstr>PowerPoint 演示文稿</vt:lpstr>
      <vt:lpstr>Solution Overview</vt:lpstr>
      <vt:lpstr>Robot Framework &amp; PyTest Usage</vt:lpstr>
      <vt:lpstr>End‑to‑End Healing Flow</vt:lpstr>
      <vt:lpstr>Healing Metrics &amp; ROI</vt:lpstr>
      <vt:lpstr>AI Prompt &amp; Confidence Scoring</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febinthomas</cp:lastModifiedBy>
  <cp:revision>6</cp:revision>
  <dcterms:created xsi:type="dcterms:W3CDTF">2026-05-13T05:46:50Z</dcterms:created>
  <dcterms:modified xsi:type="dcterms:W3CDTF">2026-05-13T05:46:50Z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1033-5.6.0.8082</vt:lpwstr>
  </property>
</Properties>
</file>